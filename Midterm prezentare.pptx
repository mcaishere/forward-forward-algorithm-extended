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1" r:id="rId3"/>
    <p:sldId id="262" r:id="rId4"/>
    <p:sldId id="263" r:id="rId5"/>
    <p:sldId id="271" r:id="rId6"/>
    <p:sldId id="269" r:id="rId7"/>
    <p:sldId id="270" r:id="rId8"/>
    <p:sldId id="272" r:id="rId9"/>
    <p:sldId id="273" r:id="rId10"/>
    <p:sldId id="274" r:id="rId11"/>
    <p:sldId id="264" r:id="rId12"/>
    <p:sldId id="266" r:id="rId13"/>
    <p:sldId id="265" r:id="rId14"/>
    <p:sldId id="267" r:id="rId15"/>
    <p:sldId id="268" r:id="rId16"/>
    <p:sldId id="2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829854-D1E3-4A27-8633-A6C30CA14EC5}" v="642" dt="2025-12-12T12:14:59.704"/>
    <p1510:client id="{C5962AD7-8957-4CB2-BA72-93E96E7B2750}" v="181" dt="2025-12-10T14:08:57.9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12/12/2025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7287101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12/12/2025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3496411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12/12/2025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0537446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12/12/2025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35673460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12/12/2025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5178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12/12/2025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58871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12/12/2025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4120890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12/12/2025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84908649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12/12/2025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22592831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12/12/2025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98418298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12/12/2025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5252569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12/12/2025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57955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2301.01452" TargetMode="External"/><Relationship Id="rId2" Type="http://schemas.openxmlformats.org/officeDocument/2006/relationships/hyperlink" Target="https://www.cs.toronto.edu/~hinton/FFA13.pdf" TargetMode="External"/><Relationship Id="rId1" Type="http://schemas.openxmlformats.org/officeDocument/2006/relationships/slideLayout" Target="../slideLayouts/slideLayout2.xml"/><Relationship Id="rId5" Type="http://schemas.openxmlformats.org/officeDocument/2006/relationships/hyperlink" Target="https://www.nature.com/articles/s41598-025-26235-2.pdf" TargetMode="External"/><Relationship Id="rId4" Type="http://schemas.openxmlformats.org/officeDocument/2006/relationships/hyperlink" Target="https://arxiv.org/abs/2307.042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mj-lt"/>
                <a:cs typeface="+mj-lt"/>
              </a:rPr>
              <a:t>Forward-Forward Algorithm revisited</a:t>
            </a:r>
            <a:endParaRPr lang="en-US" dirty="0"/>
          </a:p>
        </p:txBody>
      </p:sp>
      <p:sp>
        <p:nvSpPr>
          <p:cNvPr id="3" name="Subtitle 2"/>
          <p:cNvSpPr>
            <a:spLocks noGrp="1"/>
          </p:cNvSpPr>
          <p:nvPr>
            <p:ph type="subTitle" idx="1"/>
          </p:nvPr>
        </p:nvSpPr>
        <p:spPr/>
        <p:txBody>
          <a:bodyPr vert="horz" lIns="91440" tIns="45720" rIns="91440" bIns="45720" rtlCol="0" anchor="t">
            <a:normAutofit lnSpcReduction="10000"/>
          </a:bodyPr>
          <a:lstStyle/>
          <a:p>
            <a:r>
              <a:rPr lang="en-US" dirty="0"/>
              <a:t>334 – </a:t>
            </a:r>
            <a:r>
              <a:rPr lang="en-US" dirty="0" err="1"/>
              <a:t>Buciu</a:t>
            </a:r>
            <a:r>
              <a:rPr lang="en-US" dirty="0"/>
              <a:t> Theodor</a:t>
            </a:r>
          </a:p>
          <a:p>
            <a:r>
              <a:rPr lang="en-US" dirty="0"/>
              <a:t>334 – Manole Catalin</a:t>
            </a:r>
          </a:p>
          <a:p>
            <a:r>
              <a:rPr lang="en-US" dirty="0"/>
              <a:t>334 – Ionescu Alexandru</a:t>
            </a:r>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F07A-DEBA-2EFA-BE4B-0810F67FE30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BFF2431-5B86-0AEB-198A-2C707B15A7FB}"/>
              </a:ext>
            </a:extLst>
          </p:cNvPr>
          <p:cNvSpPr>
            <a:spLocks noGrp="1"/>
          </p:cNvSpPr>
          <p:nvPr>
            <p:ph idx="1"/>
          </p:nvPr>
        </p:nvSpPr>
        <p:spPr/>
        <p:txBody>
          <a:bodyPr vert="horz" lIns="91440" tIns="45720" rIns="91440" bIns="45720" rtlCol="0" anchor="t">
            <a:normAutofit/>
          </a:bodyPr>
          <a:lstStyle/>
          <a:p>
            <a:r>
              <a:rPr lang="en-US" dirty="0">
                <a:ea typeface="+mn-lt"/>
                <a:cs typeface="+mn-lt"/>
              </a:rPr>
              <a:t>FFA is trying to be more biologically plausible and as a side effect more efficient for certain hardware configurations such as analog hardware. </a:t>
            </a:r>
          </a:p>
          <a:p>
            <a:r>
              <a:rPr lang="en-US" dirty="0">
                <a:ea typeface="+mn-lt"/>
                <a:cs typeface="+mn-lt"/>
              </a:rPr>
              <a:t>The algorithm revolves around local update rules based on a goodness score calculated as the </a:t>
            </a:r>
            <a:r>
              <a:rPr lang="en-US" b="1" dirty="0">
                <a:ea typeface="+mn-lt"/>
                <a:cs typeface="+mn-lt"/>
              </a:rPr>
              <a:t>p(positive) = σ(Sum(yl^2) − θ)</a:t>
            </a:r>
            <a:r>
              <a:rPr lang="en-US" dirty="0">
                <a:ea typeface="+mn-lt"/>
                <a:cs typeface="+mn-lt"/>
              </a:rPr>
              <a:t> where </a:t>
            </a:r>
            <a:r>
              <a:rPr lang="en-US" b="1" dirty="0">
                <a:ea typeface="+mn-lt"/>
                <a:cs typeface="+mn-lt"/>
              </a:rPr>
              <a:t>θ</a:t>
            </a:r>
            <a:r>
              <a:rPr lang="en-US" dirty="0">
                <a:ea typeface="+mn-lt"/>
                <a:cs typeface="+mn-lt"/>
              </a:rPr>
              <a:t> is the hyper-parameter threshold and </a:t>
            </a:r>
            <a:r>
              <a:rPr lang="en-US" b="1" dirty="0" err="1">
                <a:ea typeface="+mn-lt"/>
                <a:cs typeface="+mn-lt"/>
              </a:rPr>
              <a:t>yl</a:t>
            </a:r>
            <a:r>
              <a:rPr lang="en-US" dirty="0">
                <a:ea typeface="+mn-lt"/>
                <a:cs typeface="+mn-lt"/>
              </a:rPr>
              <a:t> are the activations of the </a:t>
            </a:r>
            <a:r>
              <a:rPr lang="en-US" b="1" dirty="0">
                <a:ea typeface="+mn-lt"/>
                <a:cs typeface="+mn-lt"/>
              </a:rPr>
              <a:t>layer l </a:t>
            </a:r>
            <a:r>
              <a:rPr lang="en-US" dirty="0">
                <a:ea typeface="+mn-lt"/>
                <a:cs typeface="+mn-lt"/>
              </a:rPr>
              <a:t>thus localizing the loss calculation and update on each individual layer thus parallelizing the training process.</a:t>
            </a:r>
            <a:endParaRPr lang="en-US"/>
          </a:p>
        </p:txBody>
      </p:sp>
    </p:spTree>
    <p:extLst>
      <p:ext uri="{BB962C8B-B14F-4D97-AF65-F5344CB8AC3E}">
        <p14:creationId xmlns:p14="http://schemas.microsoft.com/office/powerpoint/2010/main" val="2172990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09A7-0572-F306-2ED9-AEBC5C5D758A}"/>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40BC6C52-2D7D-8C1D-79C5-913F1E514DAF}"/>
              </a:ext>
            </a:extLst>
          </p:cNvPr>
          <p:cNvSpPr>
            <a:spLocks noGrp="1"/>
          </p:cNvSpPr>
          <p:nvPr>
            <p:ph idx="1"/>
          </p:nvPr>
        </p:nvSpPr>
        <p:spPr/>
        <p:txBody>
          <a:bodyPr vert="horz" lIns="91440" tIns="45720" rIns="91440" bIns="45720" rtlCol="0" anchor="t">
            <a:normAutofit/>
          </a:bodyPr>
          <a:lstStyle/>
          <a:p>
            <a:r>
              <a:rPr lang="en-US" dirty="0">
                <a:ea typeface="+mn-lt"/>
                <a:cs typeface="+mn-lt"/>
              </a:rPr>
              <a:t>We are building our neural networks in </a:t>
            </a:r>
            <a:r>
              <a:rPr lang="en-US" dirty="0" err="1">
                <a:ea typeface="+mn-lt"/>
                <a:cs typeface="+mn-lt"/>
              </a:rPr>
              <a:t>Pytorch</a:t>
            </a:r>
            <a:r>
              <a:rPr lang="en-US" dirty="0">
                <a:ea typeface="+mn-lt"/>
                <a:cs typeface="+mn-lt"/>
              </a:rPr>
              <a:t>, testing the performance of both a Forward-Forward trained model and two traditionally trained models for each task. </a:t>
            </a:r>
          </a:p>
          <a:p>
            <a:r>
              <a:rPr lang="en-US" dirty="0">
                <a:ea typeface="+mn-lt"/>
                <a:cs typeface="+mn-lt"/>
              </a:rPr>
              <a:t>Hardware configurations:</a:t>
            </a:r>
          </a:p>
          <a:p>
            <a:pPr lvl="1">
              <a:buFont typeface="Calibri" panose="020B0604020202020204" pitchFamily="34" charset="0"/>
              <a:buChar char="-"/>
            </a:pPr>
            <a:r>
              <a:rPr lang="en-US" dirty="0">
                <a:ea typeface="+mn-lt"/>
                <a:cs typeface="+mn-lt"/>
              </a:rPr>
              <a:t>i3-10100F + </a:t>
            </a:r>
            <a:r>
              <a:rPr lang="en-US" err="1">
                <a:ea typeface="+mn-lt"/>
                <a:cs typeface="+mn-lt"/>
              </a:rPr>
              <a:t>gtx</a:t>
            </a:r>
            <a:r>
              <a:rPr lang="en-US" dirty="0">
                <a:ea typeface="+mn-lt"/>
                <a:cs typeface="+mn-lt"/>
              </a:rPr>
              <a:t> 1050ti</a:t>
            </a:r>
          </a:p>
          <a:p>
            <a:pPr lvl="1">
              <a:buFont typeface="Calibri" panose="020B0604020202020204" pitchFamily="34" charset="0"/>
              <a:buChar char="-"/>
            </a:pPr>
            <a:r>
              <a:rPr lang="en-US" dirty="0">
                <a:ea typeface="+mn-lt"/>
                <a:cs typeface="+mn-lt"/>
              </a:rPr>
              <a:t>i7 14650-hx + </a:t>
            </a:r>
            <a:r>
              <a:rPr lang="en-US" err="1">
                <a:ea typeface="+mn-lt"/>
                <a:cs typeface="+mn-lt"/>
              </a:rPr>
              <a:t>rtx</a:t>
            </a:r>
            <a:r>
              <a:rPr lang="en-US" dirty="0">
                <a:ea typeface="+mn-lt"/>
                <a:cs typeface="+mn-lt"/>
              </a:rPr>
              <a:t> 4060M</a:t>
            </a:r>
          </a:p>
          <a:p>
            <a:pPr lvl="1">
              <a:buFont typeface="Calibri" panose="020B0604020202020204" pitchFamily="34" charset="0"/>
              <a:buChar char="-"/>
            </a:pPr>
            <a:r>
              <a:rPr lang="en-US" dirty="0">
                <a:ea typeface="+mn-lt"/>
                <a:cs typeface="+mn-lt"/>
              </a:rPr>
              <a:t>i7-10750H + </a:t>
            </a:r>
            <a:r>
              <a:rPr lang="en-US" dirty="0" err="1">
                <a:ea typeface="+mn-lt"/>
                <a:cs typeface="+mn-lt"/>
              </a:rPr>
              <a:t>gtx</a:t>
            </a:r>
            <a:r>
              <a:rPr lang="en-US" dirty="0">
                <a:ea typeface="+mn-lt"/>
                <a:cs typeface="+mn-lt"/>
              </a:rPr>
              <a:t> 1650ti</a:t>
            </a:r>
          </a:p>
          <a:p>
            <a:pPr marL="457200" lvl="1" indent="0">
              <a:buNone/>
            </a:pPr>
            <a:r>
              <a:rPr lang="en-US" sz="2000" dirty="0">
                <a:ea typeface="+mn-lt"/>
                <a:cs typeface="+mn-lt"/>
              </a:rPr>
              <a:t>(we will specify the hardware used for each experiment as to not confuse them)</a:t>
            </a:r>
            <a:endParaRPr lang="en-US" sz="2000" dirty="0"/>
          </a:p>
        </p:txBody>
      </p:sp>
    </p:spTree>
    <p:extLst>
      <p:ext uri="{BB962C8B-B14F-4D97-AF65-F5344CB8AC3E}">
        <p14:creationId xmlns:p14="http://schemas.microsoft.com/office/powerpoint/2010/main" val="3631984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53442-F17D-278D-2832-84347005967C}"/>
              </a:ext>
            </a:extLst>
          </p:cNvPr>
          <p:cNvSpPr>
            <a:spLocks noGrp="1"/>
          </p:cNvSpPr>
          <p:nvPr>
            <p:ph type="title"/>
          </p:nvPr>
        </p:nvSpPr>
        <p:spPr/>
        <p:txBody>
          <a:bodyPr>
            <a:normAutofit/>
          </a:bodyPr>
          <a:lstStyle/>
          <a:p>
            <a:r>
              <a:rPr lang="en-US" dirty="0"/>
              <a:t>Approach</a:t>
            </a:r>
          </a:p>
        </p:txBody>
      </p:sp>
      <p:sp>
        <p:nvSpPr>
          <p:cNvPr id="3" name="Content Placeholder 2">
            <a:extLst>
              <a:ext uri="{FF2B5EF4-FFF2-40B4-BE49-F238E27FC236}">
                <a16:creationId xmlns:a16="http://schemas.microsoft.com/office/drawing/2014/main" id="{218255BE-8CB4-A6A8-B837-F166EAC0B95A}"/>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We will test and compare FFA results to the other models by looking at the following metrics: </a:t>
            </a:r>
            <a:endParaRPr lang="en-US" dirty="0"/>
          </a:p>
          <a:p>
            <a:pPr marL="0" indent="0">
              <a:buNone/>
            </a:pPr>
            <a:r>
              <a:rPr lang="en-US" dirty="0">
                <a:ea typeface="+mn-lt"/>
                <a:cs typeface="+mn-lt"/>
              </a:rPr>
              <a:t>• Train time </a:t>
            </a:r>
            <a:endParaRPr lang="en-US" dirty="0"/>
          </a:p>
          <a:p>
            <a:pPr marL="0" indent="0">
              <a:buNone/>
            </a:pPr>
            <a:r>
              <a:rPr lang="en-US" dirty="0">
                <a:ea typeface="+mn-lt"/>
                <a:cs typeface="+mn-lt"/>
              </a:rPr>
              <a:t>• Number of epochs </a:t>
            </a:r>
            <a:endParaRPr lang="en-US" dirty="0"/>
          </a:p>
          <a:p>
            <a:pPr marL="0" indent="0">
              <a:buNone/>
            </a:pPr>
            <a:r>
              <a:rPr lang="en-US" dirty="0">
                <a:ea typeface="+mn-lt"/>
                <a:cs typeface="+mn-lt"/>
              </a:rPr>
              <a:t>• Accuracy </a:t>
            </a:r>
            <a:endParaRPr lang="en-US" dirty="0"/>
          </a:p>
          <a:p>
            <a:pPr marL="0" indent="0">
              <a:buNone/>
            </a:pPr>
            <a:r>
              <a:rPr lang="en-US" dirty="0">
                <a:ea typeface="+mn-lt"/>
                <a:cs typeface="+mn-lt"/>
              </a:rPr>
              <a:t>• Memory usage on similar performance </a:t>
            </a:r>
            <a:endParaRPr lang="en-US" dirty="0"/>
          </a:p>
          <a:p>
            <a:pPr marL="0" indent="0">
              <a:buNone/>
            </a:pPr>
            <a:r>
              <a:rPr lang="en-US" dirty="0">
                <a:ea typeface="+mn-lt"/>
                <a:cs typeface="+mn-lt"/>
              </a:rPr>
              <a:t>• Overfit and underfit tendencies </a:t>
            </a:r>
            <a:endParaRPr lang="en-US" dirty="0"/>
          </a:p>
        </p:txBody>
      </p:sp>
    </p:spTree>
    <p:extLst>
      <p:ext uri="{BB962C8B-B14F-4D97-AF65-F5344CB8AC3E}">
        <p14:creationId xmlns:p14="http://schemas.microsoft.com/office/powerpoint/2010/main" val="185744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black and white document with text&#10;&#10;AI-generated content may be incorrect.">
            <a:extLst>
              <a:ext uri="{FF2B5EF4-FFF2-40B4-BE49-F238E27FC236}">
                <a16:creationId xmlns:a16="http://schemas.microsoft.com/office/drawing/2014/main" id="{FA1E8C12-0CE3-7F67-6963-3217E4F59BAB}"/>
              </a:ext>
            </a:extLst>
          </p:cNvPr>
          <p:cNvPicPr>
            <a:picLocks noGrp="1" noChangeAspect="1"/>
          </p:cNvPicPr>
          <p:nvPr>
            <p:ph idx="1"/>
          </p:nvPr>
        </p:nvPicPr>
        <p:blipFill>
          <a:blip r:embed="rId2"/>
          <a:stretch>
            <a:fillRect/>
          </a:stretch>
        </p:blipFill>
        <p:spPr>
          <a:xfrm>
            <a:off x="1732092" y="769126"/>
            <a:ext cx="8731675" cy="5315071"/>
          </a:xfrm>
          <a:prstGeom prst="rect">
            <a:avLst/>
          </a:prstGeom>
        </p:spPr>
      </p:pic>
      <p:sp>
        <p:nvSpPr>
          <p:cNvPr id="4" name="Date Placeholder 3">
            <a:extLst>
              <a:ext uri="{FF2B5EF4-FFF2-40B4-BE49-F238E27FC236}">
                <a16:creationId xmlns:a16="http://schemas.microsoft.com/office/drawing/2014/main" id="{C8A29094-288A-6E6B-9878-84B275C54D0B}"/>
              </a:ext>
            </a:extLst>
          </p:cNvPr>
          <p:cNvSpPr>
            <a:spLocks noGrp="1"/>
          </p:cNvSpPr>
          <p:nvPr>
            <p:ph type="dt" sz="half" idx="10"/>
          </p:nvPr>
        </p:nvSpPr>
        <p:spPr/>
        <p:txBody>
          <a:bodyPr/>
          <a:lstStyle/>
          <a:p>
            <a:fld id="{DF5FB8BF-3135-4811-BEFB-7A9A90B16E6E}" type="datetime1">
              <a:t>12/12/2025</a:t>
            </a:fld>
            <a:endParaRPr lang="en-US" dirty="0"/>
          </a:p>
        </p:txBody>
      </p:sp>
      <p:sp>
        <p:nvSpPr>
          <p:cNvPr id="5" name="Footer Placeholder 4">
            <a:extLst>
              <a:ext uri="{FF2B5EF4-FFF2-40B4-BE49-F238E27FC236}">
                <a16:creationId xmlns:a16="http://schemas.microsoft.com/office/drawing/2014/main" id="{15246921-D471-9275-1524-B9DB6B33AB37}"/>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09708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credit assignment algorithm&#10;&#10;AI-generated content may be incorrect.">
            <a:extLst>
              <a:ext uri="{FF2B5EF4-FFF2-40B4-BE49-F238E27FC236}">
                <a16:creationId xmlns:a16="http://schemas.microsoft.com/office/drawing/2014/main" id="{A80724D3-44A9-A10F-0140-04E090070E9D}"/>
              </a:ext>
            </a:extLst>
          </p:cNvPr>
          <p:cNvPicPr>
            <a:picLocks noGrp="1" noChangeAspect="1"/>
          </p:cNvPicPr>
          <p:nvPr>
            <p:ph idx="1"/>
          </p:nvPr>
        </p:nvPicPr>
        <p:blipFill>
          <a:blip r:embed="rId2"/>
          <a:stretch>
            <a:fillRect/>
          </a:stretch>
        </p:blipFill>
        <p:spPr>
          <a:xfrm>
            <a:off x="2141674" y="819258"/>
            <a:ext cx="7919478" cy="5230272"/>
          </a:xfrm>
          <a:prstGeom prst="rect">
            <a:avLst/>
          </a:prstGeom>
        </p:spPr>
      </p:pic>
      <p:sp>
        <p:nvSpPr>
          <p:cNvPr id="4" name="Date Placeholder 3">
            <a:extLst>
              <a:ext uri="{FF2B5EF4-FFF2-40B4-BE49-F238E27FC236}">
                <a16:creationId xmlns:a16="http://schemas.microsoft.com/office/drawing/2014/main" id="{265DDCEE-A1EF-DBEF-33ED-3563B550F5C9}"/>
              </a:ext>
            </a:extLst>
          </p:cNvPr>
          <p:cNvSpPr>
            <a:spLocks noGrp="1"/>
          </p:cNvSpPr>
          <p:nvPr>
            <p:ph type="dt" sz="half" idx="10"/>
          </p:nvPr>
        </p:nvSpPr>
        <p:spPr/>
        <p:txBody>
          <a:bodyPr/>
          <a:lstStyle/>
          <a:p>
            <a:fld id="{3CBE505E-DB48-4789-A7A6-9F113E7F9432}" type="datetime1">
              <a:t>12/12/2025</a:t>
            </a:fld>
            <a:endParaRPr lang="en-US" dirty="0"/>
          </a:p>
        </p:txBody>
      </p:sp>
      <p:sp>
        <p:nvSpPr>
          <p:cNvPr id="5" name="Footer Placeholder 4">
            <a:extLst>
              <a:ext uri="{FF2B5EF4-FFF2-40B4-BE49-F238E27FC236}">
                <a16:creationId xmlns:a16="http://schemas.microsoft.com/office/drawing/2014/main" id="{BACC9FEA-F9C2-80AF-A4F5-2D23336D8E4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0816AFF-C682-3E12-E55A-E54575C52F10}"/>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275117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ocument with text on it&#10;&#10;AI-generated content may be incorrect.">
            <a:extLst>
              <a:ext uri="{FF2B5EF4-FFF2-40B4-BE49-F238E27FC236}">
                <a16:creationId xmlns:a16="http://schemas.microsoft.com/office/drawing/2014/main" id="{DF071A0E-5E3D-5241-DFD4-C4D4BA8884CE}"/>
              </a:ext>
            </a:extLst>
          </p:cNvPr>
          <p:cNvPicPr>
            <a:picLocks noGrp="1" noChangeAspect="1"/>
          </p:cNvPicPr>
          <p:nvPr>
            <p:ph idx="1"/>
          </p:nvPr>
        </p:nvPicPr>
        <p:blipFill>
          <a:blip r:embed="rId2"/>
          <a:stretch>
            <a:fillRect/>
          </a:stretch>
        </p:blipFill>
        <p:spPr>
          <a:xfrm>
            <a:off x="2109868" y="885364"/>
            <a:ext cx="7963205" cy="5095511"/>
          </a:xfrm>
          <a:prstGeom prst="rect">
            <a:avLst/>
          </a:prstGeom>
        </p:spPr>
      </p:pic>
      <p:sp>
        <p:nvSpPr>
          <p:cNvPr id="4" name="Date Placeholder 3">
            <a:extLst>
              <a:ext uri="{FF2B5EF4-FFF2-40B4-BE49-F238E27FC236}">
                <a16:creationId xmlns:a16="http://schemas.microsoft.com/office/drawing/2014/main" id="{AF9107C0-A4F9-4D78-9579-08C873D8B3D6}"/>
              </a:ext>
            </a:extLst>
          </p:cNvPr>
          <p:cNvSpPr>
            <a:spLocks noGrp="1"/>
          </p:cNvSpPr>
          <p:nvPr>
            <p:ph type="dt" sz="half" idx="10"/>
          </p:nvPr>
        </p:nvSpPr>
        <p:spPr/>
        <p:txBody>
          <a:bodyPr/>
          <a:lstStyle/>
          <a:p>
            <a:fld id="{3453187F-BBED-4FD1-B583-5776556A098B}" type="datetime1">
              <a:t>12/12/2025</a:t>
            </a:fld>
            <a:endParaRPr lang="en-US" dirty="0"/>
          </a:p>
        </p:txBody>
      </p:sp>
      <p:sp>
        <p:nvSpPr>
          <p:cNvPr id="5" name="Footer Placeholder 4">
            <a:extLst>
              <a:ext uri="{FF2B5EF4-FFF2-40B4-BE49-F238E27FC236}">
                <a16:creationId xmlns:a16="http://schemas.microsoft.com/office/drawing/2014/main" id="{4BF525F9-88AA-A789-25C0-1D24DC9823D4}"/>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812655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machine learning&#10;&#10;AI-generated content may be incorrect.">
            <a:extLst>
              <a:ext uri="{FF2B5EF4-FFF2-40B4-BE49-F238E27FC236}">
                <a16:creationId xmlns:a16="http://schemas.microsoft.com/office/drawing/2014/main" id="{A55D1213-44C0-5522-BB1F-72716E954B46}"/>
              </a:ext>
            </a:extLst>
          </p:cNvPr>
          <p:cNvPicPr>
            <a:picLocks noGrp="1" noChangeAspect="1"/>
          </p:cNvPicPr>
          <p:nvPr>
            <p:ph idx="1"/>
          </p:nvPr>
        </p:nvPicPr>
        <p:blipFill>
          <a:blip r:embed="rId2"/>
          <a:stretch>
            <a:fillRect/>
          </a:stretch>
        </p:blipFill>
        <p:spPr>
          <a:xfrm>
            <a:off x="2248797" y="849337"/>
            <a:ext cx="7695205" cy="5170114"/>
          </a:xfrm>
          <a:prstGeom prst="rect">
            <a:avLst/>
          </a:prstGeom>
        </p:spPr>
      </p:pic>
      <p:sp>
        <p:nvSpPr>
          <p:cNvPr id="4" name="Date Placeholder 3">
            <a:extLst>
              <a:ext uri="{FF2B5EF4-FFF2-40B4-BE49-F238E27FC236}">
                <a16:creationId xmlns:a16="http://schemas.microsoft.com/office/drawing/2014/main" id="{36C33C09-78EB-51B0-3C0C-49AD7CF97B5D}"/>
              </a:ext>
            </a:extLst>
          </p:cNvPr>
          <p:cNvSpPr>
            <a:spLocks noGrp="1"/>
          </p:cNvSpPr>
          <p:nvPr>
            <p:ph type="dt" sz="half" idx="10"/>
          </p:nvPr>
        </p:nvSpPr>
        <p:spPr/>
        <p:txBody>
          <a:bodyPr/>
          <a:lstStyle/>
          <a:p>
            <a:fld id="{05D99AEF-760D-493D-BDB2-E497C1153F46}" type="datetime1">
              <a:t>12/12/2025</a:t>
            </a:fld>
            <a:endParaRPr lang="en-US" dirty="0"/>
          </a:p>
        </p:txBody>
      </p:sp>
      <p:sp>
        <p:nvSpPr>
          <p:cNvPr id="5" name="Footer Placeholder 4">
            <a:extLst>
              <a:ext uri="{FF2B5EF4-FFF2-40B4-BE49-F238E27FC236}">
                <a16:creationId xmlns:a16="http://schemas.microsoft.com/office/drawing/2014/main" id="{9C91BCF3-2364-ED8E-28A0-7E5D98EA3BCC}"/>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98476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AI-generated content may be incorrect.">
            <a:extLst>
              <a:ext uri="{FF2B5EF4-FFF2-40B4-BE49-F238E27FC236}">
                <a16:creationId xmlns:a16="http://schemas.microsoft.com/office/drawing/2014/main" id="{9395B6BC-E5C2-877E-D0DC-285D644F2A77}"/>
              </a:ext>
            </a:extLst>
          </p:cNvPr>
          <p:cNvPicPr>
            <a:picLocks noGrp="1" noChangeAspect="1"/>
          </p:cNvPicPr>
          <p:nvPr>
            <p:ph idx="1"/>
          </p:nvPr>
        </p:nvPicPr>
        <p:blipFill>
          <a:blip r:embed="rId2"/>
          <a:stretch>
            <a:fillRect/>
          </a:stretch>
        </p:blipFill>
        <p:spPr>
          <a:xfrm>
            <a:off x="2555824" y="769127"/>
            <a:ext cx="7081151" cy="5320509"/>
          </a:xfrm>
          <a:prstGeom prst="rect">
            <a:avLst/>
          </a:prstGeom>
        </p:spPr>
      </p:pic>
      <p:sp>
        <p:nvSpPr>
          <p:cNvPr id="4" name="Date Placeholder 3">
            <a:extLst>
              <a:ext uri="{FF2B5EF4-FFF2-40B4-BE49-F238E27FC236}">
                <a16:creationId xmlns:a16="http://schemas.microsoft.com/office/drawing/2014/main" id="{EF5C5189-060E-4558-8557-621CB96639AB}"/>
              </a:ext>
            </a:extLst>
          </p:cNvPr>
          <p:cNvSpPr>
            <a:spLocks noGrp="1"/>
          </p:cNvSpPr>
          <p:nvPr>
            <p:ph type="dt" sz="half" idx="10"/>
          </p:nvPr>
        </p:nvSpPr>
        <p:spPr/>
        <p:txBody>
          <a:bodyPr/>
          <a:lstStyle/>
          <a:p>
            <a:fld id="{55DC228B-386F-43D8-B2CB-44D801DE4570}" type="datetime1">
              <a:t>12/12/2025</a:t>
            </a:fld>
            <a:endParaRPr lang="en-US" dirty="0"/>
          </a:p>
        </p:txBody>
      </p:sp>
      <p:sp>
        <p:nvSpPr>
          <p:cNvPr id="5" name="Footer Placeholder 4">
            <a:extLst>
              <a:ext uri="{FF2B5EF4-FFF2-40B4-BE49-F238E27FC236}">
                <a16:creationId xmlns:a16="http://schemas.microsoft.com/office/drawing/2014/main" id="{B5DFE88A-B633-36B2-04FA-C66BCC4D5A3B}"/>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960272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diagram&#10;&#10;AI-generated content may be incorrect.">
            <a:extLst>
              <a:ext uri="{FF2B5EF4-FFF2-40B4-BE49-F238E27FC236}">
                <a16:creationId xmlns:a16="http://schemas.microsoft.com/office/drawing/2014/main" id="{730A820D-148B-DACB-19A1-4116114505BD}"/>
              </a:ext>
            </a:extLst>
          </p:cNvPr>
          <p:cNvPicPr>
            <a:picLocks noGrp="1" noChangeAspect="1"/>
          </p:cNvPicPr>
          <p:nvPr>
            <p:ph idx="1"/>
          </p:nvPr>
        </p:nvPicPr>
        <p:blipFill>
          <a:blip r:embed="rId2"/>
          <a:stretch>
            <a:fillRect/>
          </a:stretch>
        </p:blipFill>
        <p:spPr>
          <a:xfrm>
            <a:off x="1485216" y="782042"/>
            <a:ext cx="9238341" cy="5289240"/>
          </a:xfrm>
          <a:prstGeom prst="rect">
            <a:avLst/>
          </a:prstGeom>
        </p:spPr>
      </p:pic>
      <p:sp>
        <p:nvSpPr>
          <p:cNvPr id="4" name="Date Placeholder 3">
            <a:extLst>
              <a:ext uri="{FF2B5EF4-FFF2-40B4-BE49-F238E27FC236}">
                <a16:creationId xmlns:a16="http://schemas.microsoft.com/office/drawing/2014/main" id="{D91F184E-B36B-8EC7-3CD4-D8FCB0E103C6}"/>
              </a:ext>
            </a:extLst>
          </p:cNvPr>
          <p:cNvSpPr>
            <a:spLocks noGrp="1"/>
          </p:cNvSpPr>
          <p:nvPr>
            <p:ph type="dt" sz="half" idx="10"/>
          </p:nvPr>
        </p:nvSpPr>
        <p:spPr/>
        <p:txBody>
          <a:bodyPr/>
          <a:lstStyle/>
          <a:p>
            <a:fld id="{FB553F23-C819-4AA0-A0AB-145922BE6FB8}" type="datetime1">
              <a:t>12/12/2025</a:t>
            </a:fld>
            <a:endParaRPr lang="en-US" dirty="0"/>
          </a:p>
        </p:txBody>
      </p:sp>
      <p:sp>
        <p:nvSpPr>
          <p:cNvPr id="5" name="Footer Placeholder 4">
            <a:extLst>
              <a:ext uri="{FF2B5EF4-FFF2-40B4-BE49-F238E27FC236}">
                <a16:creationId xmlns:a16="http://schemas.microsoft.com/office/drawing/2014/main" id="{3053CE30-E248-6A96-B9F3-F64F8924598C}"/>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307531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0A44-9A30-57CA-258F-753506EAA235}"/>
              </a:ext>
            </a:extLst>
          </p:cNvPr>
          <p:cNvSpPr>
            <a:spLocks noGrp="1"/>
          </p:cNvSpPr>
          <p:nvPr>
            <p:ph type="title"/>
          </p:nvPr>
        </p:nvSpPr>
        <p:spPr/>
        <p:txBody>
          <a:bodyPr/>
          <a:lstStyle/>
          <a:p>
            <a:r>
              <a:rPr lang="en-US" dirty="0"/>
              <a:t>Task 1: XOR</a:t>
            </a:r>
          </a:p>
        </p:txBody>
      </p:sp>
      <p:sp>
        <p:nvSpPr>
          <p:cNvPr id="3" name="Content Placeholder 2">
            <a:extLst>
              <a:ext uri="{FF2B5EF4-FFF2-40B4-BE49-F238E27FC236}">
                <a16:creationId xmlns:a16="http://schemas.microsoft.com/office/drawing/2014/main" id="{47D180BE-054B-C3D8-3004-A6AD83EC0CAE}"/>
              </a:ext>
            </a:extLst>
          </p:cNvPr>
          <p:cNvSpPr>
            <a:spLocks noGrp="1"/>
          </p:cNvSpPr>
          <p:nvPr>
            <p:ph idx="1"/>
          </p:nvPr>
        </p:nvSpPr>
        <p:spPr/>
        <p:txBody>
          <a:bodyPr vert="horz" lIns="91440" tIns="45720" rIns="91440" bIns="45720" rtlCol="0" anchor="t">
            <a:normAutofit/>
          </a:bodyPr>
          <a:lstStyle/>
          <a:p>
            <a:r>
              <a:rPr lang="en-US" dirty="0">
                <a:ea typeface="+mn-lt"/>
                <a:cs typeface="+mn-lt"/>
              </a:rPr>
              <a:t>This is just a validation problem proving that FFA can solve this problem as well as showing difference in the ration of neurons necessary to solve it. </a:t>
            </a:r>
            <a:endParaRPr lang="en-US" dirty="0"/>
          </a:p>
        </p:txBody>
      </p:sp>
    </p:spTree>
    <p:extLst>
      <p:ext uri="{BB962C8B-B14F-4D97-AF65-F5344CB8AC3E}">
        <p14:creationId xmlns:p14="http://schemas.microsoft.com/office/powerpoint/2010/main" val="2769972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F05E-A891-AF4D-0A46-535C817DBC4F}"/>
              </a:ext>
            </a:extLst>
          </p:cNvPr>
          <p:cNvSpPr>
            <a:spLocks noGrp="1"/>
          </p:cNvSpPr>
          <p:nvPr>
            <p:ph type="title"/>
          </p:nvPr>
        </p:nvSpPr>
        <p:spPr/>
        <p:txBody>
          <a:bodyPr/>
          <a:lstStyle/>
          <a:p>
            <a:r>
              <a:rPr lang="en-US" dirty="0"/>
              <a:t>Task 2: MNIST</a:t>
            </a:r>
          </a:p>
        </p:txBody>
      </p:sp>
      <p:sp>
        <p:nvSpPr>
          <p:cNvPr id="3" name="Content Placeholder 2">
            <a:extLst>
              <a:ext uri="{FF2B5EF4-FFF2-40B4-BE49-F238E27FC236}">
                <a16:creationId xmlns:a16="http://schemas.microsoft.com/office/drawing/2014/main" id="{D53BDD4E-064F-3DD8-3A69-EDA84D4C2892}"/>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MNIST dataset is composed of 70,000, label 28x28 images of grayscale handwritten digits that is used to benchmark image classification algorithms. </a:t>
            </a:r>
            <a:endParaRPr lang="en-US">
              <a:ea typeface="+mn-lt"/>
              <a:cs typeface="+mn-lt"/>
            </a:endParaRPr>
          </a:p>
          <a:p>
            <a:pPr marL="0" indent="0">
              <a:buNone/>
            </a:pPr>
            <a:r>
              <a:rPr lang="en-US" dirty="0">
                <a:ea typeface="+mn-lt"/>
                <a:cs typeface="+mn-lt"/>
              </a:rPr>
              <a:t>For this test we are going to write a FFA MLP network as well as the 2 corresponding MLP backprop networks, and try our hands at a FFA CNN and it’s comparison networks .</a:t>
            </a:r>
            <a:endParaRPr lang="en-US"/>
          </a:p>
        </p:txBody>
      </p:sp>
    </p:spTree>
    <p:extLst>
      <p:ext uri="{BB962C8B-B14F-4D97-AF65-F5344CB8AC3E}">
        <p14:creationId xmlns:p14="http://schemas.microsoft.com/office/powerpoint/2010/main" val="209675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3DD3-B6D6-F1FB-DF60-578D51A01355}"/>
              </a:ext>
            </a:extLst>
          </p:cNvPr>
          <p:cNvSpPr>
            <a:spLocks noGrp="1"/>
          </p:cNvSpPr>
          <p:nvPr>
            <p:ph type="title"/>
          </p:nvPr>
        </p:nvSpPr>
        <p:spPr/>
        <p:txBody>
          <a:bodyPr/>
          <a:lstStyle/>
          <a:p>
            <a:r>
              <a:rPr lang="en-US" dirty="0"/>
              <a:t>Task 3: IMDB Reviews</a:t>
            </a:r>
          </a:p>
        </p:txBody>
      </p:sp>
      <p:sp>
        <p:nvSpPr>
          <p:cNvPr id="3" name="Content Placeholder 2">
            <a:extLst>
              <a:ext uri="{FF2B5EF4-FFF2-40B4-BE49-F238E27FC236}">
                <a16:creationId xmlns:a16="http://schemas.microsoft.com/office/drawing/2014/main" id="{6D48726A-19F8-DE2F-388D-46805F7280E3}"/>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IMDB Reviews dataset consists of 50K tagged movie reviews, the tag can be positive or negative. In this case we are to preprocess the text and using the model word2vec to get the embeddings for the model. </a:t>
            </a:r>
          </a:p>
          <a:p>
            <a:pPr marL="0" indent="0">
              <a:buNone/>
            </a:pPr>
            <a:r>
              <a:rPr lang="en-US" dirty="0">
                <a:ea typeface="+mn-lt"/>
                <a:cs typeface="+mn-lt"/>
              </a:rPr>
              <a:t>Now as for the architecture of the model we are going to use a MLP and it’s corresponding backprop models. Here we have the chance to compare the results of this model with a basic RNN or LSTM, these being architectures that are normally impossible to train using FFA.</a:t>
            </a:r>
            <a:endParaRPr lang="en-US"/>
          </a:p>
        </p:txBody>
      </p:sp>
    </p:spTree>
    <p:extLst>
      <p:ext uri="{BB962C8B-B14F-4D97-AF65-F5344CB8AC3E}">
        <p14:creationId xmlns:p14="http://schemas.microsoft.com/office/powerpoint/2010/main" val="294368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848E-4FA6-53BE-AAB3-22F55FF60CCF}"/>
              </a:ext>
            </a:extLst>
          </p:cNvPr>
          <p:cNvSpPr>
            <a:spLocks noGrp="1"/>
          </p:cNvSpPr>
          <p:nvPr>
            <p:ph type="title"/>
          </p:nvPr>
        </p:nvSpPr>
        <p:spPr/>
        <p:txBody>
          <a:bodyPr>
            <a:normAutofit/>
          </a:bodyPr>
          <a:lstStyle/>
          <a:p>
            <a:r>
              <a:rPr lang="en-US" dirty="0"/>
              <a:t>Task 4: </a:t>
            </a:r>
            <a:r>
              <a:rPr lang="en-US" sz="3600" dirty="0">
                <a:ea typeface="+mj-lt"/>
                <a:cs typeface="+mj-lt"/>
              </a:rPr>
              <a:t>Sherlock Holmes Next-Word Prediction Corpus</a:t>
            </a:r>
            <a:endParaRPr lang="en-US" sz="3600"/>
          </a:p>
        </p:txBody>
      </p:sp>
      <p:sp>
        <p:nvSpPr>
          <p:cNvPr id="3" name="Content Placeholder 2">
            <a:extLst>
              <a:ext uri="{FF2B5EF4-FFF2-40B4-BE49-F238E27FC236}">
                <a16:creationId xmlns:a16="http://schemas.microsoft.com/office/drawing/2014/main" id="{6407D559-98B4-474F-00F2-B7C2BFD74506}"/>
              </a:ext>
            </a:extLst>
          </p:cNvPr>
          <p:cNvSpPr>
            <a:spLocks noGrp="1"/>
          </p:cNvSpPr>
          <p:nvPr>
            <p:ph idx="1"/>
          </p:nvPr>
        </p:nvSpPr>
        <p:spPr/>
        <p:txBody>
          <a:bodyPr vert="horz" lIns="91440" tIns="45720" rIns="91440" bIns="45720" rtlCol="0" anchor="t">
            <a:normAutofit/>
          </a:bodyPr>
          <a:lstStyle/>
          <a:p>
            <a:r>
              <a:rPr lang="en-US" dirty="0"/>
              <a:t>?</a:t>
            </a:r>
          </a:p>
        </p:txBody>
      </p:sp>
    </p:spTree>
    <p:extLst>
      <p:ext uri="{BB962C8B-B14F-4D97-AF65-F5344CB8AC3E}">
        <p14:creationId xmlns:p14="http://schemas.microsoft.com/office/powerpoint/2010/main" val="1282477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8273-961E-B256-C1D9-697019859DF0}"/>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EA8A5063-D800-42B3-A197-8B74F7F0E09C}"/>
              </a:ext>
            </a:extLst>
          </p:cNvPr>
          <p:cNvSpPr>
            <a:spLocks noGrp="1"/>
          </p:cNvSpPr>
          <p:nvPr>
            <p:ph idx="1"/>
          </p:nvPr>
        </p:nvSpPr>
        <p:spPr/>
        <p:txBody>
          <a:bodyPr vert="horz" lIns="91440" tIns="45720" rIns="91440" bIns="45720" rtlCol="0" anchor="t">
            <a:normAutofit/>
          </a:bodyPr>
          <a:lstStyle/>
          <a:p>
            <a:r>
              <a:rPr lang="en-US" dirty="0"/>
              <a:t>The main limitations to Forward-Forward Algorithm:</a:t>
            </a:r>
          </a:p>
          <a:p>
            <a:pPr marL="0" indent="0">
              <a:buNone/>
            </a:pPr>
            <a:r>
              <a:rPr lang="en-US" dirty="0"/>
              <a:t> - difficult to create Deep Neural Networks</a:t>
            </a:r>
          </a:p>
          <a:p>
            <a:pPr marL="0" indent="0">
              <a:buNone/>
            </a:pPr>
            <a:r>
              <a:rPr lang="en-US" dirty="0"/>
              <a:t> - fails on large datasets or complex tasks </a:t>
            </a:r>
          </a:p>
          <a:p>
            <a:pPr marL="0" indent="0">
              <a:buNone/>
            </a:pPr>
            <a:r>
              <a:rPr lang="en-US" dirty="0"/>
              <a:t>     - highly dependent on negative data</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265761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97B6-CCC7-0E01-B8B5-2BE31470B084}"/>
              </a:ext>
            </a:extLst>
          </p:cNvPr>
          <p:cNvSpPr>
            <a:spLocks noGrp="1"/>
          </p:cNvSpPr>
          <p:nvPr>
            <p:ph type="title"/>
          </p:nvPr>
        </p:nvSpPr>
        <p:spPr/>
        <p:txBody>
          <a:bodyPr/>
          <a:lstStyle/>
          <a:p>
            <a:r>
              <a:rPr lang="en-US" dirty="0" err="1">
                <a:ea typeface="+mj-lt"/>
                <a:cs typeface="+mj-lt"/>
              </a:rPr>
              <a:t>Articole</a:t>
            </a:r>
            <a:endParaRPr lang="en-US" dirty="0" err="1"/>
          </a:p>
        </p:txBody>
      </p:sp>
      <p:sp>
        <p:nvSpPr>
          <p:cNvPr id="3" name="Content Placeholder 2">
            <a:extLst>
              <a:ext uri="{FF2B5EF4-FFF2-40B4-BE49-F238E27FC236}">
                <a16:creationId xmlns:a16="http://schemas.microsoft.com/office/drawing/2014/main" id="{C202FFC8-8261-7E26-AF48-60D996821396}"/>
              </a:ext>
            </a:extLst>
          </p:cNvPr>
          <p:cNvSpPr>
            <a:spLocks noGrp="1"/>
          </p:cNvSpPr>
          <p:nvPr>
            <p:ph idx="1"/>
          </p:nvPr>
        </p:nvSpPr>
        <p:spPr>
          <a:xfrm>
            <a:off x="700635" y="1721626"/>
            <a:ext cx="10691265" cy="4207588"/>
          </a:xfrm>
        </p:spPr>
        <p:txBody>
          <a:bodyPr vert="horz" lIns="91440" tIns="45720" rIns="91440" bIns="45720" rtlCol="0" anchor="t">
            <a:normAutofit fontScale="85000" lnSpcReduction="20000"/>
          </a:bodyPr>
          <a:lstStyle/>
          <a:p>
            <a:r>
              <a:rPr lang="en-US" dirty="0">
                <a:ea typeface="+mn-lt"/>
                <a:cs typeface="+mn-lt"/>
              </a:rPr>
              <a:t>Geoffrey Hinton. 2023. The forward-forward algorithm:  </a:t>
            </a:r>
          </a:p>
          <a:p>
            <a:pPr marL="0" indent="0">
              <a:buNone/>
            </a:pPr>
            <a:r>
              <a:rPr lang="en-US" dirty="0">
                <a:ea typeface="+mn-lt"/>
                <a:cs typeface="+mn-lt"/>
                <a:hlinkClick r:id="rId2"/>
              </a:rPr>
              <a:t>https://www.cs.toronto.edu/~hinton/FFA13.pdf</a:t>
            </a:r>
            <a:endParaRPr lang="en-US" dirty="0"/>
          </a:p>
          <a:p>
            <a:endParaRPr lang="en-US" dirty="0"/>
          </a:p>
          <a:p>
            <a:r>
              <a:rPr lang="en-US" dirty="0">
                <a:ea typeface="+mn-lt"/>
                <a:cs typeface="+mn-lt"/>
              </a:rPr>
              <a:t>Alexander </a:t>
            </a:r>
            <a:r>
              <a:rPr lang="en-US" err="1">
                <a:ea typeface="+mn-lt"/>
                <a:cs typeface="+mn-lt"/>
              </a:rPr>
              <a:t>Ororbia</a:t>
            </a:r>
            <a:r>
              <a:rPr lang="en-US" dirty="0">
                <a:ea typeface="+mn-lt"/>
                <a:cs typeface="+mn-lt"/>
              </a:rPr>
              <a:t>, Ankur Mali, and Dan Roth. 2023. (The Predictive Forward-Forward Algorithm):  </a:t>
            </a:r>
            <a:endParaRPr lang="en-US" dirty="0"/>
          </a:p>
          <a:p>
            <a:pPr marL="0" indent="0">
              <a:buNone/>
            </a:pPr>
            <a:r>
              <a:rPr lang="en-US" dirty="0">
                <a:ea typeface="+mn-lt"/>
                <a:cs typeface="+mn-lt"/>
                <a:hlinkClick r:id="rId3"/>
              </a:rPr>
              <a:t>https://arxiv.org/abs/2301.01452</a:t>
            </a:r>
          </a:p>
          <a:p>
            <a:endParaRPr lang="en-US" dirty="0"/>
          </a:p>
          <a:p>
            <a:r>
              <a:rPr lang="en-US" dirty="0">
                <a:ea typeface="+mn-lt"/>
                <a:cs typeface="+mn-lt"/>
              </a:rPr>
              <a:t>Jonah Kornberg, David W. Brown, and Benjamin A. Cohen. 2023. (Extending the Forward </a:t>
            </a:r>
            <a:r>
              <a:rPr lang="en-US" err="1">
                <a:ea typeface="+mn-lt"/>
                <a:cs typeface="+mn-lt"/>
              </a:rPr>
              <a:t>Forward</a:t>
            </a:r>
            <a:r>
              <a:rPr lang="en-US" dirty="0">
                <a:ea typeface="+mn-lt"/>
                <a:cs typeface="+mn-lt"/>
              </a:rPr>
              <a:t> Algorithm):  </a:t>
            </a:r>
            <a:endParaRPr lang="en-US" dirty="0"/>
          </a:p>
          <a:p>
            <a:pPr marL="0" indent="0">
              <a:buNone/>
            </a:pPr>
            <a:r>
              <a:rPr lang="en-US" dirty="0">
                <a:ea typeface="+mn-lt"/>
                <a:cs typeface="+mn-lt"/>
                <a:hlinkClick r:id="rId4"/>
              </a:rPr>
              <a:t>https://arxiv.org/abs/2307.04205</a:t>
            </a:r>
            <a:endParaRPr lang="en-US" dirty="0"/>
          </a:p>
          <a:p>
            <a:endParaRPr lang="en-US" dirty="0"/>
          </a:p>
          <a:p>
            <a:r>
              <a:rPr lang="en-US" dirty="0">
                <a:ea typeface="+mn-lt"/>
                <a:cs typeface="+mn-lt"/>
              </a:rPr>
              <a:t>Training convolutional neural networks with the Forward–Forward Algorithm:  </a:t>
            </a:r>
            <a:endParaRPr lang="en-US" dirty="0"/>
          </a:p>
          <a:p>
            <a:pPr marL="0" indent="0">
              <a:buNone/>
            </a:pPr>
            <a:r>
              <a:rPr lang="en-US" dirty="0">
                <a:ea typeface="+mn-lt"/>
                <a:cs typeface="+mn-lt"/>
                <a:hlinkClick r:id="rId5"/>
              </a:rPr>
              <a:t>https://www.nature.com/articles/s41598-025-26235-2.pdf</a:t>
            </a:r>
            <a:endParaRPr lang="en-US" dirty="0">
              <a:ea typeface="+mn-lt"/>
              <a:cs typeface="+mn-lt"/>
            </a:endParaRPr>
          </a:p>
        </p:txBody>
      </p:sp>
    </p:spTree>
    <p:extLst>
      <p:ext uri="{BB962C8B-B14F-4D97-AF65-F5344CB8AC3E}">
        <p14:creationId xmlns:p14="http://schemas.microsoft.com/office/powerpoint/2010/main" val="3162892863"/>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ChronicleVTI</vt:lpstr>
      <vt:lpstr>Forward-Forward Algorithm revisited</vt:lpstr>
      <vt:lpstr>Introduction</vt:lpstr>
      <vt:lpstr>Approach</vt:lpstr>
      <vt:lpstr>Approach</vt:lpstr>
      <vt:lpstr>PowerPoint Presentation</vt:lpstr>
      <vt:lpstr>PowerPoint Presentation</vt:lpstr>
      <vt:lpstr>PowerPoint Presentation</vt:lpstr>
      <vt:lpstr>PowerPoint Presentation</vt:lpstr>
      <vt:lpstr>PowerPoint Presentation</vt:lpstr>
      <vt:lpstr>PowerPoint Presentation</vt:lpstr>
      <vt:lpstr>Task 1: XOR</vt:lpstr>
      <vt:lpstr>Task 2: MNIST</vt:lpstr>
      <vt:lpstr>Task 3: IMDB Reviews</vt:lpstr>
      <vt:lpstr>Task 4: Sherlock Holmes Next-Word Prediction Corpus</vt:lpstr>
      <vt:lpstr>Limitations</vt:lpstr>
      <vt:lpstr>Articole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234</cp:revision>
  <dcterms:created xsi:type="dcterms:W3CDTF">2025-12-10T14:00:21Z</dcterms:created>
  <dcterms:modified xsi:type="dcterms:W3CDTF">2025-12-12T23:25:35Z</dcterms:modified>
</cp:coreProperties>
</file>